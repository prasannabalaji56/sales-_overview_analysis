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F0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9313" y="791210"/>
            <a:ext cx="4161154" cy="734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8849" y="1697037"/>
            <a:ext cx="8233409" cy="399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3989" y="2579369"/>
            <a:ext cx="3315335" cy="1567180"/>
          </a:xfrm>
          <a:prstGeom prst="rect"/>
        </p:spPr>
        <p:txBody>
          <a:bodyPr wrap="square" lIns="0" tIns="73025" rIns="0" bIns="0" rtlCol="0" vert="horz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575"/>
              </a:spcBef>
            </a:pPr>
            <a:r>
              <a:rPr dirty="0" spc="125"/>
              <a:t>SALES </a:t>
            </a:r>
            <a:r>
              <a:rPr dirty="0" spc="95"/>
              <a:t>PERFORMANCE </a:t>
            </a:r>
            <a:r>
              <a:rPr dirty="0" spc="145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80734" y="2892615"/>
            <a:ext cx="3021330" cy="94170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 spc="85">
                <a:latin typeface="Tahoma"/>
                <a:cs typeface="Tahoma"/>
              </a:rPr>
              <a:t>PRESENTED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BY</a:t>
            </a:r>
            <a:endParaRPr sz="2000">
              <a:latin typeface="Tahoma"/>
              <a:cs typeface="Tahoma"/>
            </a:endParaRPr>
          </a:p>
          <a:p>
            <a:pPr marL="266065">
              <a:lnSpc>
                <a:spcPct val="100000"/>
              </a:lnSpc>
              <a:spcBef>
                <a:spcPts val="1205"/>
              </a:spcBef>
            </a:pPr>
            <a:r>
              <a:rPr dirty="0" sz="2000" spc="365">
                <a:latin typeface="Tahoma"/>
                <a:cs typeface="Tahoma"/>
              </a:rPr>
              <a:t>M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95">
                <a:latin typeface="Tahoma"/>
                <a:cs typeface="Tahoma"/>
              </a:rPr>
              <a:t>.PRASANNA</a:t>
            </a:r>
            <a:r>
              <a:rPr dirty="0" sz="2000" spc="-85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BALAJII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119" y="6164262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443989" y="3073780"/>
            <a:ext cx="1610995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130">
                <a:latin typeface="Cambria"/>
                <a:cs typeface="Cambria"/>
              </a:rPr>
              <a:t>Agenda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0734" y="2206053"/>
            <a:ext cx="2132330" cy="231457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 spc="-10">
                <a:latin typeface="Tahoma"/>
                <a:cs typeface="Tahoma"/>
              </a:rPr>
              <a:t>Objective</a:t>
            </a:r>
            <a:endParaRPr sz="2000">
              <a:latin typeface="Tahoma"/>
              <a:cs typeface="Tahoma"/>
            </a:endParaRPr>
          </a:p>
          <a:p>
            <a:pPr marL="238760" indent="-22606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Preparation</a:t>
            </a:r>
            <a:endParaRPr sz="2000">
              <a:latin typeface="Tahoma"/>
              <a:cs typeface="Tahoma"/>
            </a:endParaRPr>
          </a:p>
          <a:p>
            <a:pPr marL="238760" indent="-22606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>
                <a:latin typeface="Tahoma"/>
                <a:cs typeface="Tahoma"/>
              </a:rPr>
              <a:t>Data</a:t>
            </a:r>
            <a:r>
              <a:rPr dirty="0" sz="2000" spc="-1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Analysis</a:t>
            </a:r>
            <a:endParaRPr sz="2000">
              <a:latin typeface="Tahoma"/>
              <a:cs typeface="Tahoma"/>
            </a:endParaRPr>
          </a:p>
          <a:p>
            <a:pPr marL="238760" indent="-22606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 spc="-10">
                <a:latin typeface="Tahoma"/>
                <a:cs typeface="Tahoma"/>
              </a:rPr>
              <a:t>Dashboard</a:t>
            </a:r>
            <a:endParaRPr sz="2000">
              <a:latin typeface="Tahoma"/>
              <a:cs typeface="Tahoma"/>
            </a:endParaRPr>
          </a:p>
          <a:p>
            <a:pPr marL="238760" indent="-22606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>
                <a:latin typeface="Tahoma"/>
                <a:cs typeface="Tahoma"/>
              </a:rPr>
              <a:t>Key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Insights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119" y="6164262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436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535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73162" y="1157287"/>
            <a:ext cx="4712335" cy="435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"/>
                <a:cs typeface="Calibri"/>
              </a:rPr>
              <a:t>Objective:</a:t>
            </a:r>
            <a:endParaRPr sz="2400">
              <a:latin typeface="Calibri"/>
              <a:cs typeface="Calibri"/>
            </a:endParaRPr>
          </a:p>
          <a:p>
            <a:pPr marL="12700" marR="408940">
              <a:lnSpc>
                <a:spcPct val="90000"/>
              </a:lnSpc>
              <a:spcBef>
                <a:spcPts val="2590"/>
              </a:spcBef>
            </a:pPr>
            <a:r>
              <a:rPr dirty="0" sz="2400" spc="-9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evaluate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overall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sales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profit performance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across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regions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product</a:t>
            </a:r>
            <a:r>
              <a:rPr dirty="0" sz="2400" spc="-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categories.</a:t>
            </a:r>
            <a:endParaRPr sz="2400">
              <a:latin typeface="Calibri"/>
              <a:cs typeface="Calibri"/>
            </a:endParaRPr>
          </a:p>
          <a:p>
            <a:pPr marL="12700" marR="169545">
              <a:lnSpc>
                <a:spcPct val="91300"/>
              </a:lnSpc>
              <a:spcBef>
                <a:spcPts val="2555"/>
              </a:spcBef>
            </a:pPr>
            <a:r>
              <a:rPr dirty="0" sz="2400" spc="-90">
                <a:latin typeface="Calibri"/>
                <a:cs typeface="Calibri"/>
              </a:rPr>
              <a:t>To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analyze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key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business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metrics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such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total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sales,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total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profit,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quantity </a:t>
            </a:r>
            <a:r>
              <a:rPr dirty="0" sz="2400">
                <a:latin typeface="Calibri"/>
                <a:cs typeface="Calibri"/>
              </a:rPr>
              <a:t>sold,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average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order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2590"/>
              </a:spcBef>
            </a:pPr>
            <a:r>
              <a:rPr dirty="0" sz="2400" spc="-90">
                <a:latin typeface="Calibri"/>
                <a:cs typeface="Calibri"/>
              </a:rPr>
              <a:t>To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identify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highest-</a:t>
            </a:r>
            <a:r>
              <a:rPr dirty="0" sz="2400" spc="-10">
                <a:latin typeface="Calibri"/>
                <a:cs typeface="Calibri"/>
              </a:rPr>
              <a:t>performing </a:t>
            </a:r>
            <a:r>
              <a:rPr dirty="0" sz="2400">
                <a:latin typeface="Calibri"/>
                <a:cs typeface="Calibri"/>
              </a:rPr>
              <a:t>regions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product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categories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 </a:t>
            </a:r>
            <a:r>
              <a:rPr dirty="0" sz="2400" spc="-25">
                <a:latin typeface="Calibri"/>
                <a:cs typeface="Calibri"/>
              </a:rPr>
              <a:t>Excel-</a:t>
            </a:r>
            <a:r>
              <a:rPr dirty="0" sz="2400">
                <a:latin typeface="Calibri"/>
                <a:cs typeface="Calibri"/>
              </a:rPr>
              <a:t>based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analysis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visualization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 descr="Worker typing on laptop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0" y="647700"/>
            <a:ext cx="478155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436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535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974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</a:pPr>
            <a:r>
              <a:rPr dirty="0" spc="65"/>
              <a:t>Data</a:t>
            </a:r>
            <a:r>
              <a:rPr dirty="0" spc="-75"/>
              <a:t> </a:t>
            </a:r>
            <a:r>
              <a:rPr dirty="0" spc="-10"/>
              <a:t>Preparation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3844" y="1647888"/>
            <a:ext cx="6389370" cy="403161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Checked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dataset</a:t>
            </a:r>
            <a:r>
              <a:rPr dirty="0" sz="2150" spc="8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missing</a:t>
            </a:r>
            <a:r>
              <a:rPr dirty="0" sz="2150" spc="8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incorrect</a:t>
            </a:r>
            <a:r>
              <a:rPr dirty="0" sz="2150" spc="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values.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Standardized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region</a:t>
            </a:r>
            <a:r>
              <a:rPr dirty="0" sz="2150" spc="5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product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category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names.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Corrected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inconsistent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entries.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Filled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missing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Profit</a:t>
            </a:r>
            <a:r>
              <a:rPr dirty="0" sz="2150" spc="11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value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using</a:t>
            </a:r>
            <a:r>
              <a:rPr dirty="0" sz="2150" spc="3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13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average.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150">
                <a:latin typeface="Calibri"/>
                <a:cs typeface="Calibri"/>
              </a:rPr>
              <a:t>Prepared</a:t>
            </a:r>
            <a:r>
              <a:rPr dirty="0" sz="2150" spc="4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the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cleaned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dataset</a:t>
            </a:r>
            <a:r>
              <a:rPr dirty="0" sz="2150" spc="9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</a:t>
            </a:r>
            <a:r>
              <a:rPr dirty="0" sz="2150" spc="65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analysis.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21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dirty="0" u="sng" sz="2150" spc="-1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15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Used:</a:t>
            </a:r>
            <a:endParaRPr sz="2150">
              <a:latin typeface="Calibri"/>
              <a:cs typeface="Calibri"/>
            </a:endParaRPr>
          </a:p>
          <a:p>
            <a:pPr marL="12700" marR="789305">
              <a:lnSpc>
                <a:spcPts val="3679"/>
              </a:lnSpc>
              <a:spcBef>
                <a:spcPts val="105"/>
              </a:spcBef>
            </a:pPr>
            <a:r>
              <a:rPr dirty="0" sz="2150">
                <a:latin typeface="Calibri"/>
                <a:cs typeface="Calibri"/>
              </a:rPr>
              <a:t>Excel</a:t>
            </a:r>
            <a:r>
              <a:rPr dirty="0" sz="2150" spc="10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Formulas,</a:t>
            </a:r>
            <a:r>
              <a:rPr dirty="0" sz="2150" spc="114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Sorting</a:t>
            </a:r>
            <a:r>
              <a:rPr dirty="0" sz="2150" spc="9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and</a:t>
            </a:r>
            <a:r>
              <a:rPr dirty="0" sz="2150" spc="5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filtering,</a:t>
            </a:r>
            <a:r>
              <a:rPr dirty="0" sz="2150" spc="60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Pivot</a:t>
            </a:r>
            <a:r>
              <a:rPr dirty="0" sz="2150" spc="10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tables, </a:t>
            </a:r>
            <a:r>
              <a:rPr dirty="0" sz="2150">
                <a:latin typeface="Calibri"/>
                <a:cs typeface="Calibri"/>
              </a:rPr>
              <a:t>Slicers,</a:t>
            </a:r>
            <a:r>
              <a:rPr dirty="0" sz="2150" spc="35">
                <a:latin typeface="Calibri"/>
                <a:cs typeface="Calibri"/>
              </a:rPr>
              <a:t> </a:t>
            </a:r>
            <a:r>
              <a:rPr dirty="0" sz="2150">
                <a:latin typeface="Calibri"/>
                <a:cs typeface="Calibri"/>
              </a:rPr>
              <a:t>Pivot</a:t>
            </a:r>
            <a:r>
              <a:rPr dirty="0" sz="2150" spc="7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Charts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4062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D4E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65"/>
              <a:t>Data</a:t>
            </a:r>
            <a:r>
              <a:rPr dirty="0" spc="-55"/>
              <a:t> </a:t>
            </a:r>
            <a:r>
              <a:rPr dirty="0" spc="100"/>
              <a:t>Analysis</a:t>
            </a:r>
            <a:r>
              <a:rPr dirty="0" spc="-75"/>
              <a:t> </a:t>
            </a:r>
            <a:r>
              <a:rPr dirty="0" spc="-10"/>
              <a:t>Tasks.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 spc="-10"/>
              <a:t>Calculated</a:t>
            </a:r>
            <a:r>
              <a:rPr dirty="0" spc="-70"/>
              <a:t> </a:t>
            </a:r>
            <a:r>
              <a:rPr dirty="0"/>
              <a:t>total</a:t>
            </a:r>
            <a:r>
              <a:rPr dirty="0" spc="-70"/>
              <a:t> </a:t>
            </a:r>
            <a:r>
              <a:rPr dirty="0"/>
              <a:t>sales,</a:t>
            </a:r>
            <a:r>
              <a:rPr dirty="0" spc="-40"/>
              <a:t> </a:t>
            </a:r>
            <a:r>
              <a:rPr dirty="0"/>
              <a:t>total</a:t>
            </a:r>
            <a:r>
              <a:rPr dirty="0" spc="-70"/>
              <a:t> </a:t>
            </a:r>
            <a:r>
              <a:rPr dirty="0"/>
              <a:t>profit,</a:t>
            </a:r>
            <a:r>
              <a:rPr dirty="0" spc="-45"/>
              <a:t> </a:t>
            </a:r>
            <a:r>
              <a:rPr dirty="0"/>
              <a:t>quantity</a:t>
            </a:r>
            <a:r>
              <a:rPr dirty="0" spc="-70"/>
              <a:t> </a:t>
            </a:r>
            <a:r>
              <a:rPr dirty="0"/>
              <a:t>sold,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 spc="-10"/>
              <a:t>average</a:t>
            </a:r>
            <a:r>
              <a:rPr dirty="0" spc="-20"/>
              <a:t> </a:t>
            </a:r>
            <a:r>
              <a:rPr dirty="0" spc="-10"/>
              <a:t>order</a:t>
            </a:r>
            <a:r>
              <a:rPr dirty="0" spc="-85"/>
              <a:t> </a:t>
            </a:r>
            <a:r>
              <a:rPr dirty="0" spc="-10"/>
              <a:t>value.</a:t>
            </a:r>
          </a:p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/>
              <a:t>Analyzed</a:t>
            </a:r>
            <a:r>
              <a:rPr dirty="0" spc="-75"/>
              <a:t> </a:t>
            </a:r>
            <a:r>
              <a:rPr dirty="0"/>
              <a:t>sales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/>
              <a:t>profit</a:t>
            </a:r>
            <a:r>
              <a:rPr dirty="0" spc="-65"/>
              <a:t> </a:t>
            </a:r>
            <a:r>
              <a:rPr dirty="0" spc="-10"/>
              <a:t>performance</a:t>
            </a:r>
            <a:r>
              <a:rPr dirty="0" spc="-90"/>
              <a:t> </a:t>
            </a:r>
            <a:r>
              <a:rPr dirty="0"/>
              <a:t>across</a:t>
            </a:r>
            <a:r>
              <a:rPr dirty="0" spc="-90"/>
              <a:t> </a:t>
            </a:r>
            <a:r>
              <a:rPr dirty="0"/>
              <a:t>regions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product</a:t>
            </a:r>
            <a:r>
              <a:rPr dirty="0" spc="-65"/>
              <a:t> </a:t>
            </a:r>
            <a:r>
              <a:rPr dirty="0" spc="-10"/>
              <a:t>categories.</a:t>
            </a:r>
          </a:p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 spc="-10"/>
              <a:t>Created</a:t>
            </a:r>
            <a:r>
              <a:rPr dirty="0" spc="-65"/>
              <a:t> </a:t>
            </a:r>
            <a:r>
              <a:rPr dirty="0"/>
              <a:t>Pivot</a:t>
            </a:r>
            <a:r>
              <a:rPr dirty="0" spc="-60"/>
              <a:t> </a:t>
            </a:r>
            <a:r>
              <a:rPr dirty="0" spc="-20"/>
              <a:t>Tables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Pivot</a:t>
            </a:r>
            <a:r>
              <a:rPr dirty="0" spc="-55"/>
              <a:t> </a:t>
            </a:r>
            <a:r>
              <a:rPr dirty="0"/>
              <a:t>Charts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summarize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10"/>
              <a:t>data.</a:t>
            </a:r>
          </a:p>
          <a:p>
            <a:pPr marL="241300" marR="372745" indent="-229235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/>
              <a:t>Compared</a:t>
            </a:r>
            <a:r>
              <a:rPr dirty="0" spc="-105"/>
              <a:t> </a:t>
            </a:r>
            <a:r>
              <a:rPr dirty="0"/>
              <a:t>regional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/>
              <a:t>category</a:t>
            </a:r>
            <a:r>
              <a:rPr dirty="0" spc="-95"/>
              <a:t> </a:t>
            </a:r>
            <a:r>
              <a:rPr dirty="0" spc="-10"/>
              <a:t>performance</a:t>
            </a:r>
            <a:r>
              <a:rPr dirty="0" spc="-100"/>
              <a:t> </a:t>
            </a:r>
            <a:r>
              <a:rPr dirty="0"/>
              <a:t>using</a:t>
            </a:r>
            <a:r>
              <a:rPr dirty="0" spc="-70"/>
              <a:t> </a:t>
            </a:r>
            <a:r>
              <a:rPr dirty="0" spc="-10"/>
              <a:t>interactive</a:t>
            </a:r>
            <a:r>
              <a:rPr dirty="0" spc="-45"/>
              <a:t> </a:t>
            </a:r>
            <a:r>
              <a:rPr dirty="0"/>
              <a:t>filters</a:t>
            </a:r>
            <a:r>
              <a:rPr dirty="0" spc="-60"/>
              <a:t> </a:t>
            </a:r>
            <a:r>
              <a:rPr dirty="0" spc="-25"/>
              <a:t>and </a:t>
            </a:r>
            <a:r>
              <a:rPr dirty="0" spc="-10"/>
              <a:t>slicers.</a:t>
            </a:r>
          </a:p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/>
              <a:t>Use</a:t>
            </a:r>
            <a:r>
              <a:rPr dirty="0" spc="-80"/>
              <a:t> </a:t>
            </a:r>
            <a:r>
              <a:rPr dirty="0" spc="-10"/>
              <a:t>conditional</a:t>
            </a:r>
            <a:r>
              <a:rPr dirty="0" spc="-50"/>
              <a:t> </a:t>
            </a:r>
            <a:r>
              <a:rPr dirty="0"/>
              <a:t>formatting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highlight</a:t>
            </a:r>
            <a:r>
              <a:rPr dirty="0" spc="-50"/>
              <a:t> </a:t>
            </a:r>
            <a:r>
              <a:rPr dirty="0" spc="-10"/>
              <a:t>orders</a:t>
            </a:r>
          </a:p>
          <a:p>
            <a:pPr>
              <a:lnSpc>
                <a:spcPct val="100000"/>
              </a:lnSpc>
              <a:spcBef>
                <a:spcPts val="2370"/>
              </a:spcBef>
              <a:buFont typeface="Wingdings"/>
              <a:buChar char=""/>
            </a:pPr>
          </a:p>
          <a:p>
            <a:pPr marL="241300" indent="-228600">
              <a:lnSpc>
                <a:spcPct val="100000"/>
              </a:lnSpc>
              <a:buFont typeface="Wingdings"/>
              <a:buChar char=""/>
              <a:tabLst>
                <a:tab pos="241300" algn="l"/>
              </a:tabLst>
            </a:pPr>
            <a:r>
              <a:rPr dirty="0" u="sng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Excel</a:t>
            </a:r>
            <a:r>
              <a:rPr dirty="0" u="sng" spc="-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Features</a:t>
            </a:r>
            <a:r>
              <a:rPr dirty="0" u="sng" spc="-7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Used:</a:t>
            </a:r>
          </a:p>
          <a:p>
            <a:pPr marL="241300" indent="-228600">
              <a:lnSpc>
                <a:spcPct val="100000"/>
              </a:lnSpc>
              <a:spcBef>
                <a:spcPts val="1205"/>
              </a:spcBef>
              <a:buFont typeface="Wingdings"/>
              <a:buChar char=""/>
              <a:tabLst>
                <a:tab pos="241300" algn="l"/>
              </a:tabLst>
            </a:pPr>
            <a:r>
              <a:rPr dirty="0"/>
              <a:t>SUM,</a:t>
            </a:r>
            <a:r>
              <a:rPr dirty="0" spc="-55"/>
              <a:t> </a:t>
            </a:r>
            <a:r>
              <a:rPr dirty="0" spc="-10"/>
              <a:t>AVERAGE,</a:t>
            </a:r>
            <a:r>
              <a:rPr dirty="0" spc="-55"/>
              <a:t> </a:t>
            </a:r>
            <a:r>
              <a:rPr dirty="0" spc="-30"/>
              <a:t>COUNT,</a:t>
            </a:r>
            <a:r>
              <a:rPr dirty="0" spc="-50"/>
              <a:t> </a:t>
            </a:r>
            <a:r>
              <a:rPr dirty="0" spc="-10"/>
              <a:t>Pivot</a:t>
            </a:r>
            <a:r>
              <a:rPr dirty="0" spc="-75"/>
              <a:t> </a:t>
            </a:r>
            <a:r>
              <a:rPr dirty="0" spc="-20"/>
              <a:t>Tables,</a:t>
            </a:r>
            <a:r>
              <a:rPr dirty="0" spc="-55"/>
              <a:t> </a:t>
            </a:r>
            <a:r>
              <a:rPr dirty="0"/>
              <a:t>Pivot</a:t>
            </a:r>
            <a:r>
              <a:rPr dirty="0" spc="-75"/>
              <a:t> </a:t>
            </a:r>
            <a:r>
              <a:rPr dirty="0"/>
              <a:t>Charts,</a:t>
            </a:r>
            <a:r>
              <a:rPr dirty="0" spc="-55"/>
              <a:t> </a:t>
            </a:r>
            <a:r>
              <a:rPr dirty="0" spc="-10"/>
              <a:t>Slicers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3119" y="6164262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5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ACB8C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object 4"/>
            <p:cNvSpPr/>
            <p:nvPr/>
          </p:nvSpPr>
          <p:spPr>
            <a:xfrm>
              <a:off x="914400" y="914400"/>
              <a:ext cx="10363200" cy="5029200"/>
            </a:xfrm>
            <a:custGeom>
              <a:avLst/>
              <a:gdLst/>
              <a:ahLst/>
              <a:cxnLst/>
              <a:rect l="l" t="t" r="r" b="b"/>
              <a:pathLst>
                <a:path w="10363200" h="5029200">
                  <a:moveTo>
                    <a:pt x="0" y="5029200"/>
                  </a:moveTo>
                  <a:lnTo>
                    <a:pt x="10363200" y="5029200"/>
                  </a:lnTo>
                  <a:lnTo>
                    <a:pt x="10363200" y="0"/>
                  </a:lnTo>
                  <a:lnTo>
                    <a:pt x="0" y="0"/>
                  </a:lnTo>
                  <a:lnTo>
                    <a:pt x="0" y="50292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914400" y="5943600"/>
                  </a:moveTo>
                  <a:lnTo>
                    <a:pt x="0" y="5943600"/>
                  </a:lnTo>
                  <a:lnTo>
                    <a:pt x="0" y="6858000"/>
                  </a:lnTo>
                  <a:lnTo>
                    <a:pt x="914400" y="6858000"/>
                  </a:lnTo>
                  <a:lnTo>
                    <a:pt x="914400" y="5943600"/>
                  </a:lnTo>
                  <a:close/>
                </a:path>
                <a:path w="12192000" h="6858000">
                  <a:moveTo>
                    <a:pt x="12192000" y="0"/>
                  </a:moveTo>
                  <a:lnTo>
                    <a:pt x="11277600" y="0"/>
                  </a:lnTo>
                  <a:lnTo>
                    <a:pt x="11277600" y="914400"/>
                  </a:lnTo>
                  <a:lnTo>
                    <a:pt x="12192000" y="9144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4DD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895350"/>
              <a:ext cx="10353675" cy="5067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EC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277600" y="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0"/>
                </a:moveTo>
                <a:lnTo>
                  <a:pt x="0" y="0"/>
                </a:lnTo>
                <a:lnTo>
                  <a:pt x="0" y="914400"/>
                </a:lnTo>
                <a:lnTo>
                  <a:pt x="914400" y="914400"/>
                </a:lnTo>
                <a:lnTo>
                  <a:pt x="914400" y="0"/>
                </a:lnTo>
                <a:close/>
              </a:path>
            </a:pathLst>
          </a:custGeom>
          <a:solidFill>
            <a:srgbClr val="F4DDD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5350" y="0"/>
            <a:ext cx="0" cy="5943600"/>
          </a:xfrm>
          <a:custGeom>
            <a:avLst/>
            <a:gdLst/>
            <a:ahLst/>
            <a:cxnLst/>
            <a:rect l="l" t="t" r="r" b="b"/>
            <a:pathLst>
              <a:path w="0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ln w="19050">
            <a:solidFill>
              <a:srgbClr val="DF99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849" rIns="0" bIns="0" rtlCol="0" vert="horz">
            <a:spAutoFit/>
          </a:bodyPr>
          <a:lstStyle/>
          <a:p>
            <a:pPr marL="100330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dirty="0" spc="70"/>
              <a:t> </a:t>
            </a:r>
            <a:r>
              <a:rPr dirty="0" spc="55"/>
              <a:t>Findings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3119" y="6164262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7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" name="object 7" descr="Child holding up ha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950" y="1714500"/>
            <a:ext cx="4591050" cy="48101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779894" y="1686242"/>
            <a:ext cx="4266565" cy="45999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55600" marR="24130" indent="-342900">
              <a:lnSpc>
                <a:spcPts val="1650"/>
              </a:lnSpc>
              <a:spcBef>
                <a:spcPts val="505"/>
              </a:spcBef>
              <a:buFont typeface="Wingdings"/>
              <a:buChar char="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East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recorded</a:t>
            </a:r>
            <a:r>
              <a:rPr dirty="0" sz="1700" spc="-7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highest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total</a:t>
            </a:r>
            <a:r>
              <a:rPr dirty="0" sz="1700" spc="-9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Profit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among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6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four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regions.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"/>
            </a:pPr>
            <a:endParaRPr sz="1700">
              <a:latin typeface="Calibri"/>
              <a:cs typeface="Calibri"/>
            </a:endParaRPr>
          </a:p>
          <a:p>
            <a:pPr marL="355600" marR="12065" indent="-342900">
              <a:lnSpc>
                <a:spcPts val="1650"/>
              </a:lnSpc>
              <a:spcBef>
                <a:spcPts val="5"/>
              </a:spcBef>
              <a:buFont typeface="Wingdings"/>
              <a:buChar char=""/>
              <a:tabLst>
                <a:tab pos="355600" algn="l"/>
              </a:tabLst>
            </a:pPr>
            <a:r>
              <a:rPr dirty="0" sz="1700" spc="-20">
                <a:latin typeface="Calibri"/>
                <a:cs typeface="Calibri"/>
              </a:rPr>
              <a:t>Total</a:t>
            </a:r>
            <a:r>
              <a:rPr dirty="0" sz="1700">
                <a:latin typeface="Calibri"/>
                <a:cs typeface="Calibri"/>
              </a:rPr>
              <a:t> 10271</a:t>
            </a:r>
            <a:r>
              <a:rPr dirty="0" sz="1700" spc="-8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quantities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sold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all regions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 </a:t>
            </a:r>
            <a:r>
              <a:rPr dirty="0" sz="1700">
                <a:latin typeface="Calibri"/>
                <a:cs typeface="Calibri"/>
              </a:rPr>
              <a:t>for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all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categories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Wingdings"/>
              <a:buChar char=""/>
            </a:pPr>
            <a:endParaRPr sz="1700">
              <a:latin typeface="Calibri"/>
              <a:cs typeface="Calibri"/>
            </a:endParaRPr>
          </a:p>
          <a:p>
            <a:pPr marL="355600" marR="292735" indent="-342900">
              <a:lnSpc>
                <a:spcPts val="1650"/>
              </a:lnSpc>
              <a:buFont typeface="Wingdings"/>
              <a:buChar char="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Clothing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most profitable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product category.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Font typeface="Wingdings"/>
              <a:buChar char=""/>
            </a:pPr>
            <a:endParaRPr sz="1700">
              <a:latin typeface="Calibri"/>
              <a:cs typeface="Calibri"/>
            </a:endParaRPr>
          </a:p>
          <a:p>
            <a:pPr algn="just" marL="355600" marR="237490" indent="-342900">
              <a:lnSpc>
                <a:spcPct val="79100"/>
              </a:lnSpc>
              <a:buFont typeface="Wingdings"/>
              <a:buChar char="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Regional</a:t>
            </a:r>
            <a:r>
              <a:rPr dirty="0" sz="1700" spc="-7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sales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performance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was</a:t>
            </a:r>
            <a:r>
              <a:rPr dirty="0" sz="1700" spc="-5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relatively </a:t>
            </a:r>
            <a:r>
              <a:rPr dirty="0" sz="1700">
                <a:latin typeface="Calibri"/>
                <a:cs typeface="Calibri"/>
              </a:rPr>
              <a:t>balanced,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with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each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region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contributing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50">
                <a:latin typeface="Calibri"/>
                <a:cs typeface="Calibri"/>
              </a:rPr>
              <a:t>a </a:t>
            </a:r>
            <a:r>
              <a:rPr dirty="0" sz="1700">
                <a:latin typeface="Calibri"/>
                <a:cs typeface="Calibri"/>
              </a:rPr>
              <a:t>similar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share.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"/>
            </a:pPr>
            <a:endParaRPr sz="1700">
              <a:latin typeface="Calibri"/>
              <a:cs typeface="Calibri"/>
            </a:endParaRPr>
          </a:p>
          <a:p>
            <a:pPr marL="355600" marR="5080" indent="-342900">
              <a:lnSpc>
                <a:spcPct val="81000"/>
              </a:lnSpc>
              <a:buFont typeface="Wingdings"/>
              <a:buChar char="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The</a:t>
            </a:r>
            <a:r>
              <a:rPr dirty="0" sz="1700" spc="-5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dashboard</a:t>
            </a:r>
            <a:r>
              <a:rPr dirty="0" sz="1700" spc="-2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shows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total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sales</a:t>
            </a:r>
            <a:r>
              <a:rPr dirty="0" sz="1700" spc="-2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of </a:t>
            </a:r>
            <a:r>
              <a:rPr dirty="0" sz="1700" spc="-10">
                <a:latin typeface="Calibri"/>
                <a:cs typeface="Calibri"/>
              </a:rPr>
              <a:t>approximately</a:t>
            </a:r>
            <a:r>
              <a:rPr dirty="0" sz="1700" spc="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10.11M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average</a:t>
            </a:r>
            <a:r>
              <a:rPr dirty="0" sz="1700" spc="-6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order </a:t>
            </a:r>
            <a:r>
              <a:rPr dirty="0" sz="1700">
                <a:latin typeface="Calibri"/>
                <a:cs typeface="Calibri"/>
              </a:rPr>
              <a:t>value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1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approximately</a:t>
            </a:r>
            <a:r>
              <a:rPr dirty="0" sz="1700" spc="-1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2,529.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Wingdings"/>
              <a:buChar char=""/>
            </a:pPr>
            <a:endParaRPr sz="1700">
              <a:latin typeface="Calibri"/>
              <a:cs typeface="Calibri"/>
            </a:endParaRPr>
          </a:p>
          <a:p>
            <a:pPr marL="355600" marR="231775" indent="-342900">
              <a:lnSpc>
                <a:spcPct val="80900"/>
              </a:lnSpc>
              <a:buFont typeface="Wingdings"/>
              <a:buChar char=""/>
              <a:tabLst>
                <a:tab pos="355600" algn="l"/>
              </a:tabLst>
            </a:pPr>
            <a:r>
              <a:rPr dirty="0" sz="1700">
                <a:latin typeface="Calibri"/>
                <a:cs typeface="Calibri"/>
              </a:rPr>
              <a:t>Pivot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Tables,</a:t>
            </a:r>
            <a:r>
              <a:rPr dirty="0" sz="1700" spc="-3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Pivot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Charts,</a:t>
            </a:r>
            <a:r>
              <a:rPr dirty="0" sz="1700" spc="-3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KPI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cards,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 spc="-25">
                <a:latin typeface="Calibri"/>
                <a:cs typeface="Calibri"/>
              </a:rPr>
              <a:t>and </a:t>
            </a:r>
            <a:r>
              <a:rPr dirty="0" sz="1700">
                <a:latin typeface="Calibri"/>
                <a:cs typeface="Calibri"/>
              </a:rPr>
              <a:t>slicers</a:t>
            </a:r>
            <a:r>
              <a:rPr dirty="0" sz="1700" spc="-10">
                <a:latin typeface="Calibri"/>
                <a:cs typeface="Calibri"/>
              </a:rPr>
              <a:t> provide</a:t>
            </a:r>
            <a:r>
              <a:rPr dirty="0" sz="1700" spc="-45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an</a:t>
            </a:r>
            <a:r>
              <a:rPr dirty="0" sz="1700" spc="-1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interactive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view</a:t>
            </a:r>
            <a:r>
              <a:rPr dirty="0" sz="1700" spc="-40">
                <a:latin typeface="Calibri"/>
                <a:cs typeface="Calibri"/>
              </a:rPr>
              <a:t> </a:t>
            </a:r>
            <a:r>
              <a:rPr dirty="0" sz="1700">
                <a:latin typeface="Calibri"/>
                <a:cs typeface="Calibri"/>
              </a:rPr>
              <a:t>of</a:t>
            </a:r>
            <a:r>
              <a:rPr dirty="0" sz="1700" spc="-5">
                <a:latin typeface="Calibri"/>
                <a:cs typeface="Calibri"/>
              </a:rPr>
              <a:t> </a:t>
            </a:r>
            <a:r>
              <a:rPr dirty="0" sz="1700" spc="-10">
                <a:latin typeface="Calibri"/>
                <a:cs typeface="Calibri"/>
              </a:rPr>
              <a:t>sales performance.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57015" y="3073780"/>
            <a:ext cx="210058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80"/>
              <a:t>Thankyou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3119" y="6164262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ahoma"/>
                <a:cs typeface="Tahoma"/>
              </a:rPr>
              <a:t>8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0734" y="3270567"/>
            <a:ext cx="32575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38760" algn="l"/>
              </a:tabLst>
            </a:pPr>
            <a:r>
              <a:rPr dirty="0" sz="2000" spc="-50">
                <a:latin typeface="Tahoma"/>
                <a:cs typeface="Tahoma"/>
              </a:rPr>
              <a:t>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2026-08-14T17:30:53Z</dcterms:created>
  <dcterms:modified xsi:type="dcterms:W3CDTF">2026-08-14T17:30:53Z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2026-08-14T00:00:00Z</vt:filetime>
  </property>
  <property fmtid="{D5CDD505-2E9C-101B-9397-08002B2CF9AE}" pid="4" name="LastSaved">
    <vt:filetime>2026-08-14T00:00:00Z</vt:filetime>
  </property>
</Properties>
</file>